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57"/>
                </a:solidFill>
                <a:latin typeface="Poppins"/>
              </a:defRPr>
            </a:pPr>
            <a:r>
              <a:t>OPERATION APIX  •  SMART INDIA HACKATHON 2026 • MOSPI &amp; RBI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01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2A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57"/>
                </a:solidFill>
                <a:latin typeface="JetBrains Mono"/>
              </a:defRPr>
            </a:pPr>
            <a:r>
              <a:t>SMART INDIA HACKATHON 2026  •  PROBLEM STATEMENT ID: SIH26056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AF9F5"/>
                </a:solidFill>
                <a:latin typeface="Poppins"/>
              </a:defRPr>
            </a:pPr>
            <a:r>
              <a:t>What our Problem Statement is 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AF9F5"/>
                </a:solidFill>
                <a:latin typeface="Lora"/>
              </a:defRPr>
            </a:pPr>
            <a:r>
              <a:t>Operation APIx: Development of a Real-time Airfare Price Index for India through Automated Web Scraping.</a:t>
            </a:r>
          </a:p>
          <a:p>
            <a:pPr>
              <a:defRPr sz="1600">
                <a:solidFill>
                  <a:srgbClr val="8E8C85"/>
                </a:solidFill>
                <a:latin typeface="Lora"/>
              </a:defRPr>
            </a:pPr>
            <a:r>
              <a:t>Replacing an antiquated, multi-billion rupee national economic blind spot with sovereign data intelligence.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514600" cy="1188720"/>
          </a:xfrm>
          <a:prstGeom prst="roundRect">
            <a:avLst/>
          </a:prstGeom>
          <a:solidFill>
            <a:srgbClr val="1C1C19"/>
          </a:solidFill>
          <a:ln w="12700">
            <a:solidFill>
              <a:srgbClr val="2A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THEME</a:t>
            </a:r>
          </a:p>
          <a:p>
            <a:pPr>
              <a:defRPr sz="1300" b="1">
                <a:solidFill>
                  <a:srgbClr val="FAF9F5"/>
                </a:solidFill>
                <a:latin typeface="Poppins"/>
              </a:defRPr>
            </a:pPr>
            <a:r>
              <a:t>Smart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754880"/>
            <a:ext cx="2514600" cy="1188720"/>
          </a:xfrm>
          <a:prstGeom prst="roundRect">
            <a:avLst/>
          </a:prstGeom>
          <a:solidFill>
            <a:srgbClr val="1C1C19"/>
          </a:solidFill>
          <a:ln w="12700">
            <a:solidFill>
              <a:srgbClr val="2A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A9BCC"/>
                </a:solidFill>
                <a:latin typeface="JetBrains Mono"/>
              </a:defRPr>
            </a:pPr>
            <a:r>
              <a:t>MINISTRY</a:t>
            </a:r>
          </a:p>
          <a:p>
            <a:pPr>
              <a:defRPr sz="1300" b="1">
                <a:solidFill>
                  <a:srgbClr val="FAF9F5"/>
                </a:solidFill>
                <a:latin typeface="Poppins"/>
              </a:defRPr>
            </a:pPr>
            <a:r>
              <a:t>MoSPI &amp; NSO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754880"/>
            <a:ext cx="2514600" cy="1188720"/>
          </a:xfrm>
          <a:prstGeom prst="roundRect">
            <a:avLst/>
          </a:prstGeom>
          <a:solidFill>
            <a:srgbClr val="1C1C19"/>
          </a:solidFill>
          <a:ln w="12700">
            <a:solidFill>
              <a:srgbClr val="2A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88C5D"/>
                </a:solidFill>
                <a:latin typeface="JetBrains Mono"/>
              </a:defRPr>
            </a:pPr>
            <a:r>
              <a:t>PRIMARY BENEFICIARY</a:t>
            </a:r>
          </a:p>
          <a:p>
            <a:pPr>
              <a:defRPr sz="1300" b="1">
                <a:solidFill>
                  <a:srgbClr val="FAF9F5"/>
                </a:solidFill>
                <a:latin typeface="Poppins"/>
              </a:defRPr>
            </a:pPr>
            <a:r>
              <a:t>RBI Monetary Policy Committee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754880"/>
            <a:ext cx="2514600" cy="1188720"/>
          </a:xfrm>
          <a:prstGeom prst="roundRect">
            <a:avLst/>
          </a:prstGeom>
          <a:solidFill>
            <a:srgbClr val="1C1C19"/>
          </a:solidFill>
          <a:ln w="12700">
            <a:solidFill>
              <a:srgbClr val="2A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JetBrains Mono"/>
              </a:defRPr>
            </a:pPr>
            <a:r>
              <a:t>CATEGORY</a:t>
            </a:r>
          </a:p>
          <a:p>
            <a:pPr>
              <a:defRPr sz="1300" b="1">
                <a:solidFill>
                  <a:srgbClr val="FAF9F5"/>
                </a:solidFill>
                <a:latin typeface="Poppins"/>
              </a:defRPr>
            </a:pPr>
            <a:r>
              <a:t>Software / GovTech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57"/>
                </a:solidFill>
                <a:latin typeface="Poppins"/>
              </a:defRPr>
            </a:pPr>
            <a:r>
              <a:t>OPERATION APIX  •  THE 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2A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AF9F5"/>
                </a:solidFill>
                <a:latin typeface="Poppins"/>
              </a:defRPr>
            </a:pPr>
            <a:r>
              <a:t>How does the Government of India measure flight ticket inflation in 2026?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0728655" cy="1645920"/>
          </a:xfrm>
          <a:prstGeom prst="rect">
            <a:avLst/>
          </a:prstGeom>
          <a:solidFill>
            <a:srgbClr val="1C1C19"/>
          </a:solidFill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i="1" sz="2200">
                <a:solidFill>
                  <a:srgbClr val="D97757"/>
                </a:solidFill>
                <a:latin typeface="Lora"/>
              </a:defRPr>
            </a:pPr>
            <a:r>
              <a:t>“A government surveyor walks into a physical airline booking office with a paper clipboard. Once a month.”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E8C85"/>
                </a:solidFill>
                <a:latin typeface="Lora"/>
              </a:defRPr>
            </a:pPr>
            <a:r>
              <a:t>They record a single static counter price on paper. Meanwhile, over 92% of domestic flight tickets in India are purchased online, where algorithmic dynamic pricing swings 200% to 400% every single day across booking horizons.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57"/>
                </a:solidFill>
                <a:latin typeface="Poppins"/>
              </a:defRPr>
            </a:pPr>
            <a:r>
              <a:t>OPERATION APIX  •  THE PRICE DISCONNECT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2A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AF9F5"/>
                </a:solidFill>
                <a:latin typeface="Poppins"/>
              </a:defRPr>
            </a:pPr>
            <a:r>
              <a:t>What MoSPI Sees vs. What Citizens Actually Pay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560320"/>
          </a:xfrm>
          <a:prstGeom prst="roundRect">
            <a:avLst/>
          </a:prstGeom>
          <a:solidFill>
            <a:srgbClr val="1C1C19"/>
          </a:solidFill>
          <a:ln w="12700">
            <a:solidFill>
              <a:srgbClr val="2A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8C85"/>
                </a:solidFill>
                <a:latin typeface="JetBrains Mono"/>
              </a:defRPr>
            </a:pPr>
            <a:r>
              <a:t>THE MONTHLY PAPER SURVEY</a:t>
            </a:r>
          </a:p>
          <a:p>
            <a:pPr>
              <a:defRPr sz="4000" b="1">
                <a:solidFill>
                  <a:srgbClr val="FAF9F5"/>
                </a:solidFill>
                <a:latin typeface="Poppins"/>
              </a:defRPr>
            </a:pPr>
            <a:r>
              <a:t>₹4,500</a:t>
            </a:r>
          </a:p>
          <a:p>
            <a:pPr>
              <a:defRPr sz="1300">
                <a:solidFill>
                  <a:srgbClr val="8E8C85"/>
                </a:solidFill>
                <a:latin typeface="Lora"/>
              </a:defRPr>
            </a:pPr>
            <a:r>
              <a:t>Static counter fare recorded once a month in physical office. Zero visibility into advance purchase windows, peak festival surges, or high-demand flight slots.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2560320"/>
          </a:xfrm>
          <a:prstGeom prst="roundRect">
            <a:avLst/>
          </a:prstGeom>
          <a:solidFill>
            <a:srgbClr val="1C1C19"/>
          </a:solidFill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LIVE ALGORITHMIC ONLINE MARKET</a:t>
            </a:r>
          </a:p>
          <a:p>
            <a:pPr>
              <a:defRPr sz="4000" b="1">
                <a:solidFill>
                  <a:srgbClr val="D97757"/>
                </a:solidFill>
                <a:latin typeface="Poppins"/>
              </a:defRPr>
            </a:pPr>
            <a:r>
              <a:t>₹16,800</a:t>
            </a:r>
          </a:p>
          <a:p>
            <a:pPr>
              <a:defRPr sz="1300">
                <a:solidFill>
                  <a:srgbClr val="FAF9F5"/>
                </a:solidFill>
                <a:latin typeface="Lora"/>
              </a:defRPr>
            </a:pPr>
            <a:r>
              <a:t>+273% Festival / Last-Minute Surge (T+1 Day). Algorithms dynamically adjust fares minute-by-minute based on seat availability, browser cookies, and departure proximity.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141413"/>
          </a:solidFill>
          <a:ln>
            <a:solidFill>
              <a:srgbClr val="2A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A9BCC"/>
                </a:solidFill>
                <a:latin typeface="JetBrains Mono"/>
              </a:defRPr>
            </a:pPr>
            <a:r>
              <a:t>DYNAMIC BOOKING HORIZON REALITY (DELHI - MUMBAI ROUTE):</a:t>
            </a:r>
          </a:p>
          <a:p>
            <a:pPr>
              <a:defRPr sz="1100">
                <a:solidFill>
                  <a:srgbClr val="FAF9F5"/>
                </a:solidFill>
                <a:latin typeface="JetBrains Mono"/>
              </a:defRPr>
            </a:pPr>
            <a:r>
              <a:t>• T+1 (Last Minute): ₹16,800 (+273%)    • T+7: ₹12,400 (+175%)    • T+15: ₹8,500 (+88%)    • T+30: ₹5,600 (+24%)    • T+45 (Early): ₹4,500 (Base)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57"/>
                </a:solidFill>
                <a:latin typeface="Poppins"/>
              </a:defRPr>
            </a:pPr>
            <a:r>
              <a:t>OPERATION APIX  •  THE MACROECONOMIC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2A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AF9F5"/>
                </a:solidFill>
                <a:latin typeface="Poppins"/>
              </a:defRPr>
            </a:pPr>
            <a:r>
              <a:t>The Reserve Bank of India is Setting Monetary Policy Blindfolded.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AF9F5"/>
                </a:solidFill>
                <a:latin typeface="Lora"/>
              </a:defRPr>
            </a:pPr>
            <a:r>
              <a:t>1. Flexible Inflation Targeting Mandate: The RBI Monetary Policy Committee is statutory-mandated to keep inflation at 4% (±2%).</a:t>
            </a:r>
          </a:p>
          <a:p>
            <a:pPr>
              <a:defRPr sz="1600">
                <a:solidFill>
                  <a:srgbClr val="8E8C85"/>
                </a:solidFill>
                <a:latin typeface="Lora"/>
              </a:defRPr>
            </a:pPr>
            <a:r>
              <a:t>2. Distorted Transport Subgroup: When domestic airfare swings are reported on a 30-day lagged manual basis, the Transport &amp; Communication basket of the Consumer Price Index (CPI) reports inaccurate numbers.</a:t>
            </a:r>
          </a:p>
          <a:p>
            <a:pPr>
              <a:defRPr sz="1600">
                <a:solidFill>
                  <a:srgbClr val="8E8C85"/>
                </a:solidFill>
                <a:latin typeface="Lora"/>
              </a:defRPr>
            </a:pPr>
            <a:r>
              <a:t>3. National Policy Misalignment: Inaccurate inflation indexes lead to mistimed interest rate cuts or hikes, directly affecting credit growth, mortgages, and sovereign yields.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C1C19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CRITICAL COGNITIVE REFRAME FOR EVALUATORS:</a:t>
            </a:r>
          </a:p>
          <a:p>
            <a:pPr>
              <a:defRPr b="1" sz="1600">
                <a:solidFill>
                  <a:srgbClr val="FAF9F5"/>
                </a:solidFill>
                <a:latin typeface="Lora"/>
              </a:defRPr>
            </a:pPr>
            <a:r>
              <a:t>“The problem isn't booking flight tickets. The problem is National Macroeconomic Intelligence and Sovereign Inflation Accuracy.”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57"/>
                </a:solidFill>
                <a:latin typeface="Poppins"/>
              </a:defRPr>
            </a:pPr>
            <a:r>
              <a:t>OPERATION APIX  •  THE OFFICIAL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2A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AF9F5"/>
                </a:solidFill>
                <a:latin typeface="Poppins"/>
              </a:defRPr>
            </a:pPr>
            <a:r>
              <a:t>The Government Officially Asked For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AF9F5"/>
                </a:solidFill>
                <a:latin typeface="Lora"/>
              </a:defRPr>
            </a:pPr>
            <a:r>
              <a:t>Under the newly revised CPI Series (Base 2024=100), MoSPI officially mandated shifting from manual surveyor visits to automated digital web scraping for dynamic service sectors like civil aviation.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120640" cy="2011680"/>
          </a:xfrm>
          <a:prstGeom prst="roundRect">
            <a:avLst/>
          </a:prstGeom>
          <a:solidFill>
            <a:srgbClr val="1C1C19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MoSPI &amp; NSO (OFFICIAL SPONSOR)</a:t>
            </a:r>
          </a:p>
          <a:p>
            <a:pPr>
              <a:defRPr sz="1300">
                <a:solidFill>
                  <a:srgbClr val="8E8C85"/>
                </a:solidFill>
                <a:latin typeface="Lora"/>
              </a:defRPr>
            </a:pPr>
            <a:r>
              <a:t>Requires an automated, fault-tolerant daily scraping pipeline to ingest and aggregate fares across all major domestic carriers without expensive field personnel.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017520"/>
            <a:ext cx="5120640" cy="2011680"/>
          </a:xfrm>
          <a:prstGeom prst="roundRect">
            <a:avLst/>
          </a:prstGeom>
          <a:solidFill>
            <a:srgbClr val="1C1C19"/>
          </a:solidFill>
          <a:ln w="1270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88C5D"/>
                </a:solidFill>
                <a:latin typeface="JetBrains Mono"/>
              </a:defRPr>
            </a:pPr>
            <a:r>
              <a:t>DGCA (CIVIL AVIATION REGULATOR)</a:t>
            </a:r>
          </a:p>
          <a:p>
            <a:pPr>
              <a:defRPr sz="1300">
                <a:solidFill>
                  <a:srgbClr val="8E8C85"/>
                </a:solidFill>
                <a:latin typeface="Lora"/>
              </a:defRPr>
            </a:pPr>
            <a:r>
              <a:t>Publishes official monthly city-pair passenger loads. Our platform dynamically ingests these traffic figures to apply genuine Laspeyres economic weighting.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i="1" sz="1400">
                <a:solidFill>
                  <a:srgbClr val="D97757"/>
                </a:solidFill>
                <a:latin typeface="Lora"/>
              </a:defRPr>
            </a:pPr>
            <a:r>
              <a:t>SIH26056 was posted directly by MoSPI because the Ministry lacks an end-to-end automated platform to execute this mandate.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57"/>
                </a:solidFill>
                <a:latin typeface="Poppins"/>
              </a:defRPr>
            </a:pPr>
            <a:r>
              <a:t>OPERATION APIX  •  STRATEGIC PIVOT • FROM PROBLEM TO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06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2A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AF9F5"/>
                </a:solidFill>
                <a:latin typeface="Poppins"/>
              </a:defRPr>
            </a:pPr>
            <a:r>
              <a:t>Let's Move to Soln.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E8C85"/>
                </a:solidFill>
                <a:latin typeface="Lora"/>
              </a:defRPr>
            </a:pPr>
            <a:r>
              <a:t>We have proven the problem: paper clipboards cannot capture dynamic airfares. Here is how Operation APIx solves it across 3 engineering pillars: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383280" cy="3017520"/>
          </a:xfrm>
          <a:prstGeom prst="roundRect">
            <a:avLst/>
          </a:prstGeom>
          <a:solidFill>
            <a:srgbClr val="1C1C19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PILLAR 01 • INGESTION</a:t>
            </a:r>
          </a:p>
          <a:p>
            <a:pPr>
              <a:defRPr sz="1600" b="1">
                <a:solidFill>
                  <a:srgbClr val="FAF9F5"/>
                </a:solidFill>
                <a:latin typeface="Poppins"/>
              </a:defRPr>
            </a:pPr>
            <a:r>
              <a:t>Automated Scraping Engine</a:t>
            </a:r>
          </a:p>
          <a:p>
            <a:pPr>
              <a:defRPr sz="1200">
                <a:solidFill>
                  <a:srgbClr val="8E8C85"/>
                </a:solidFill>
                <a:latin typeface="Lora"/>
              </a:defRPr>
            </a:pPr>
            <a:r>
              <a:t>Stealth Playwright + direct OTA API ingestion tracking 15 high-density routes across 5 booking horizons (T+1 to T+45) with zero DOM fragility.</a:t>
            </a:r>
          </a:p>
          <a:p>
            <a:pPr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➔  11 Targets &amp; OTAs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26080"/>
            <a:ext cx="3383280" cy="3017520"/>
          </a:xfrm>
          <a:prstGeom prst="roundRect">
            <a:avLst/>
          </a:prstGeom>
          <a:solidFill>
            <a:srgbClr val="1C1C19"/>
          </a:solidFill>
          <a:ln w="190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A9BCC"/>
                </a:solidFill>
                <a:latin typeface="JetBrains Mono"/>
              </a:defRPr>
            </a:pPr>
            <a:r>
              <a:t>PILLAR 02 • ECONOMETRICS</a:t>
            </a:r>
          </a:p>
          <a:p>
            <a:pPr>
              <a:defRPr sz="1600" b="1">
                <a:solidFill>
                  <a:srgbClr val="FAF9F5"/>
                </a:solidFill>
                <a:latin typeface="Poppins"/>
              </a:defRPr>
            </a:pPr>
            <a:r>
              <a:t>Laspeyres Index Engine</a:t>
            </a:r>
          </a:p>
          <a:p>
            <a:pPr>
              <a:defRPr sz="1200">
                <a:solidFill>
                  <a:srgbClr val="8E8C85"/>
                </a:solidFill>
                <a:latin typeface="Lora"/>
              </a:defRPr>
            </a:pPr>
            <a:r>
              <a:t>Isolates pure Base Fare from taxes, applies IQR outlier removal, and computes official Base 2024=100 index weighted by DGCA passenger statistics.</a:t>
            </a:r>
          </a:p>
          <a:p>
            <a:pPr>
              <a:defRPr sz="1000" b="1">
                <a:solidFill>
                  <a:srgbClr val="6A9BCC"/>
                </a:solidFill>
                <a:latin typeface="JetBrains Mono"/>
              </a:defRPr>
            </a:pPr>
            <a:r>
              <a:t>➔  IMF Standard Formula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926080"/>
            <a:ext cx="3383280" cy="3017520"/>
          </a:xfrm>
          <a:prstGeom prst="roundRect">
            <a:avLst/>
          </a:prstGeom>
          <a:solidFill>
            <a:srgbClr val="1C1C19"/>
          </a:solidFill>
          <a:ln w="190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88C5D"/>
                </a:solidFill>
                <a:latin typeface="JetBrains Mono"/>
              </a:defRPr>
            </a:pPr>
            <a:r>
              <a:t>PILLAR 03 • DECISION INTELLIGENCE</a:t>
            </a:r>
          </a:p>
          <a:p>
            <a:pPr>
              <a:defRPr sz="1600" b="1">
                <a:solidFill>
                  <a:srgbClr val="FAF9F5"/>
                </a:solidFill>
                <a:latin typeface="Poppins"/>
              </a:defRPr>
            </a:pPr>
            <a:r>
              <a:t>MoSPI &amp; RBI Command Center</a:t>
            </a:r>
          </a:p>
          <a:p>
            <a:pPr>
              <a:defRPr sz="1200">
                <a:solidFill>
                  <a:srgbClr val="8E8C85"/>
                </a:solidFill>
                <a:latin typeface="Lora"/>
              </a:defRPr>
            </a:pPr>
            <a:r>
              <a:t>Executive dashboard featuring live inflation dials, corridor heatmaps, automated anomaly detection alerts, and secure REST APIs for RBI MPC economists.</a:t>
            </a:r>
          </a:p>
          <a:p>
            <a:pPr>
              <a:defRPr sz="1000" b="1">
                <a:solidFill>
                  <a:srgbClr val="788C5D"/>
                </a:solidFill>
                <a:latin typeface="JetBrains Mono"/>
              </a:defRPr>
            </a:pPr>
            <a:r>
              <a:t>➔  Sub-second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035040"/>
            <a:ext cx="10728655" cy="548640"/>
          </a:xfrm>
          <a:prstGeom prst="roundRect">
            <a:avLst/>
          </a:prstGeom>
          <a:solidFill>
            <a:srgbClr val="191916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57"/>
                </a:solidFill>
                <a:latin typeface="JetBrains Mono"/>
              </a:defRPr>
            </a:pPr>
            <a:r>
              <a:t>NEXT DECK: TECHNICAL ARCHITECTURE &amp; LIVE BLUEPRINTS  ➔  EXPLORE ARCHITECTURE BLUEPRINT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